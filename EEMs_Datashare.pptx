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omments/comment1.xml" ContentType="application/vnd.openxmlformats-officedocument.presentationml.comments+xml"/>
  <Override PartName="/ppt/comments/comment2.xml" ContentType="application/vnd.openxmlformats-officedocument.presentationml.comment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293" r:id="rId3"/>
    <p:sldId id="345" r:id="rId4"/>
    <p:sldId id="263" r:id="rId5"/>
    <p:sldId id="346" r:id="rId6"/>
    <p:sldId id="261" r:id="rId7"/>
    <p:sldId id="257" r:id="rId8"/>
    <p:sldId id="258" r:id="rId9"/>
    <p:sldId id="259" r:id="rId10"/>
    <p:sldId id="260" r:id="rId11"/>
    <p:sldId id="262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lex Hounshell" initials="AH" lastIdx="2" clrIdx="0">
    <p:extLst>
      <p:ext uri="{19B8F6BF-5375-455C-9EA6-DF929625EA0E}">
        <p15:presenceInfo xmlns:p15="http://schemas.microsoft.com/office/powerpoint/2012/main" userId="c1ee3e2389b74879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4" d="100"/>
          <a:sy n="84" d="100"/>
        </p:scale>
        <p:origin x="115" y="1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commentAuthors" Target="commentAuthors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0-09-28T15:56:08.016" idx="1">
    <p:pos x="4131" y="960"/>
    <p:text>Update to add veritcal lines for on/off cycle and remove the current vertical lines for profiles.</p:text>
    <p:extLst>
      <p:ext uri="{C676402C-5697-4E1C-873F-D02D1690AC5C}">
        <p15:threadingInfo xmlns:p15="http://schemas.microsoft.com/office/powerpoint/2012/main" timeZoneBias="240"/>
      </p:ext>
    </p:extLst>
  </p:cm>
</p:cmLst>
</file>

<file path=ppt/comments/comment2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0-09-28T16:05:46.720" idx="2">
    <p:pos x="4891" y="667"/>
    <p:text>Separate out into water column vs. inflows</p:text>
    <p:extLst>
      <p:ext uri="{C676402C-5697-4E1C-873F-D02D1690AC5C}">
        <p15:threadingInfo xmlns:p15="http://schemas.microsoft.com/office/powerpoint/2012/main" timeZoneBias="240"/>
      </p:ext>
    </p:extLst>
  </p:cm>
</p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15002C8-B756-473D-ADEC-EDC657C4AA44}" type="datetimeFigureOut">
              <a:rPr lang="en-US" smtClean="0"/>
              <a:t>9/28/2020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416925-AB36-4B71-9DCF-6083C9FD72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15698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r>
              <a:rPr lang="en-US" baseline="0" dirty="0"/>
              <a:t>Shines light at a range of wavelengths into a sample; OM in the sample can then emit light at a range of wavelengths. Form a 3D topographical map of fluorescence; the location of fluorescence gives an understanding of the quality of OM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F0F088-4449-45AE-98C0-B69AD52F90A6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35902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72AA6-FB3A-4774-81C4-42E1862E17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EDFF65A-D945-4F45-9664-E1CC7A7E9B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51E902-27DD-438A-910A-BAA92B6C1C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E6B841-F6C4-4FE7-A55A-5431B158B71D}" type="datetimeFigureOut">
              <a:rPr lang="en-US" smtClean="0"/>
              <a:t>9/28/2020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D3284F-530E-4B6D-9C8A-E8BDA15879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84FD7E-7721-474B-AF13-CC28DE75C6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F0E58-32BD-4310-969F-40645D1899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52331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E4F89A-951A-4B16-82EA-CAECCF6E2D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5CD43C-5A0D-48A6-B7E7-A4F4D11977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81AA37-75AF-4448-92BD-2735C869C8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E6B841-F6C4-4FE7-A55A-5431B158B71D}" type="datetimeFigureOut">
              <a:rPr lang="en-US" smtClean="0"/>
              <a:t>9/28/2020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2EAFA4-B2D0-4F1B-B388-A8F50FA349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40D8BB-1AAC-4408-8D1B-93FA592374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F0E58-32BD-4310-969F-40645D1899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11791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1B2865-CB19-4947-A9B1-E49A947E43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DF9BB9-2313-4772-80B6-EB37F54280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3C94C2-33A4-4BBB-9459-A954F1BC24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E6B841-F6C4-4FE7-A55A-5431B158B71D}" type="datetimeFigureOut">
              <a:rPr lang="en-US" smtClean="0"/>
              <a:t>9/28/2020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8E24AE-183C-4E30-BA3F-8B78C0266F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B1B372-47A1-4AC3-883D-5F7E75F4A2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F0E58-32BD-4310-969F-40645D1899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29235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84A3F9-3072-4839-9F98-D31D4169F3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5C1CDB-EE29-4D2C-82D3-69774889FA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0B8605F-1786-45B5-9F8D-13BCC43C2B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C5DD9E-617F-40A9-98CA-C3F2819BF4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E6B841-F6C4-4FE7-A55A-5431B158B71D}" type="datetimeFigureOut">
              <a:rPr lang="en-US" smtClean="0"/>
              <a:t>9/28/2020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B3F3A3-8196-47AB-878F-19896D5812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30A9DA-A938-44EC-A214-A8BCA93804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F0E58-32BD-4310-969F-40645D1899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14247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8E9FC7-D45D-44AA-8A64-67C60B0188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500E7C-0B71-4C5E-9844-45D3525ABB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DE62B20-F5AB-4070-86A2-147CE6242C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3EBFBEE-376B-41D1-AF34-3622252ACB5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F3A5948-E23B-4AF0-8B01-BC818A8F9DF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C1F2294-4748-4928-8C37-7DBC6CF6E9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E6B841-F6C4-4FE7-A55A-5431B158B71D}" type="datetimeFigureOut">
              <a:rPr lang="en-US" smtClean="0"/>
              <a:t>9/28/2020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B76B8F-837E-4146-BCF7-C51FB8388E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7F57E34-7441-415D-BD29-A5E7D41D9F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F0E58-32BD-4310-969F-40645D1899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27959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2B3C71-BC74-4DCC-A09B-5848052862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7526B5F-5124-4E38-B92A-159E92A13E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E6B841-F6C4-4FE7-A55A-5431B158B71D}" type="datetimeFigureOut">
              <a:rPr lang="en-US" smtClean="0"/>
              <a:t>9/28/2020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68373B4-E8DF-400B-AAEE-93C0E87310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803B1C8-1BEA-4743-9C92-1832A3E868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F0E58-32BD-4310-969F-40645D1899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71426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30DCECE-5B88-4B36-94FE-B2D452ECF7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E6B841-F6C4-4FE7-A55A-5431B158B71D}" type="datetimeFigureOut">
              <a:rPr lang="en-US" smtClean="0"/>
              <a:t>9/28/2020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F79AE6C-5DA8-452E-9417-C4D2BB3A39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013C0D-638C-4243-B814-468C1988B4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F0E58-32BD-4310-969F-40645D1899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44470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470E9-485F-4CF9-A986-B09E9432BB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D29202-D5A2-47BF-ABBD-C320FFBED2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A705F3-996C-454A-BC88-1344591FE2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42F83A-4F94-4530-B00D-B3B2F952D4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E6B841-F6C4-4FE7-A55A-5431B158B71D}" type="datetimeFigureOut">
              <a:rPr lang="en-US" smtClean="0"/>
              <a:t>9/28/2020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054690-F4FF-4999-9B85-34982270A0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C24E11-EADC-4D4C-AD9A-0FBE0D5E0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F0E58-32BD-4310-969F-40645D1899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52077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2886C5-556E-4D3D-B6A4-D5691BFF80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0990F52-40DE-4F1E-8EC9-4161163B8F7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2B48BD0-5A33-4F76-A409-426FAC9D00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DA367F-1DC1-4528-9029-9C0F1B3CCE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E6B841-F6C4-4FE7-A55A-5431B158B71D}" type="datetimeFigureOut">
              <a:rPr lang="en-US" smtClean="0"/>
              <a:t>9/28/2020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D90A20-EB4C-4379-B4F4-E4ECDCCC33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58117A-A621-4A49-8E79-E8F0625F6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F0E58-32BD-4310-969F-40645D1899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61184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EC2CDE-D43E-4685-800B-749ED08B3E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02BD7A4-AFA5-46EF-8301-A3B03452E3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C9B420-DF8C-463F-AAF5-8F72DB6EA9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E6B841-F6C4-4FE7-A55A-5431B158B71D}" type="datetimeFigureOut">
              <a:rPr lang="en-US" smtClean="0"/>
              <a:t>9/28/2020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402E57-2BA0-4997-9B1B-CEC9FFBC68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0516CF-531F-45CD-B38B-6E1F7CD3B1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F0E58-32BD-4310-969F-40645D1899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79450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07F1B85-512F-4D8B-810C-9A3983F6AFC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B783832-A229-4FF0-81D6-FC553E18B3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49F1F9-CEAE-47B9-81F8-F5D60170F9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E6B841-F6C4-4FE7-A55A-5431B158B71D}" type="datetimeFigureOut">
              <a:rPr lang="en-US" smtClean="0"/>
              <a:t>9/28/2020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437112-7865-498A-B168-584E30A932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861991-25E4-47E4-A6A9-38ED34A8FC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F0E58-32BD-4310-969F-40645D1899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28796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0BFE8C-F6C6-4B62-B5F8-CDC59BBF82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4BF804-A89C-464B-BE22-EB7A9E2D8E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F0C3D7-89A1-4322-B2EF-C16DF06226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E6B841-F6C4-4FE7-A55A-5431B158B71D}" type="datetimeFigureOut">
              <a:rPr lang="en-US" smtClean="0"/>
              <a:t>9/28/2020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6069C0-F7A4-495E-9B29-8EE167E2D4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566725-0AE4-4991-93F5-6E25BE8EDF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4F0E58-32BD-4310-969F-40645D1899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95910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.jp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1.xml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2.xm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5205CF-1C90-4713-A61C-1AC76EE5074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EEMs Data share!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3EC4B92-6D01-4F71-B9B7-8A6FC482F28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Reservoir Meeting</a:t>
            </a:r>
          </a:p>
          <a:p>
            <a:r>
              <a:rPr lang="en-US" dirty="0"/>
              <a:t>1 October 2020</a:t>
            </a:r>
          </a:p>
        </p:txBody>
      </p:sp>
    </p:spTree>
    <p:extLst>
      <p:ext uri="{BB962C8B-B14F-4D97-AF65-F5344CB8AC3E}">
        <p14:creationId xmlns:p14="http://schemas.microsoft.com/office/powerpoint/2010/main" val="37686552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an EEM?!</a:t>
            </a:r>
          </a:p>
        </p:txBody>
      </p:sp>
      <p:pic>
        <p:nvPicPr>
          <p:cNvPr id="39" name="Picture 38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74125" y="2511074"/>
            <a:ext cx="4311770" cy="3008637"/>
          </a:xfrm>
          <a:prstGeom prst="rect">
            <a:avLst/>
          </a:prstGeom>
        </p:spPr>
      </p:pic>
      <p:cxnSp>
        <p:nvCxnSpPr>
          <p:cNvPr id="40" name="Straight Arrow Connector 39"/>
          <p:cNvCxnSpPr/>
          <p:nvPr/>
        </p:nvCxnSpPr>
        <p:spPr>
          <a:xfrm flipH="1">
            <a:off x="1305747" y="2903943"/>
            <a:ext cx="1920240" cy="0"/>
          </a:xfrm>
          <a:prstGeom prst="straightConnector1">
            <a:avLst/>
          </a:prstGeom>
          <a:ln w="57150">
            <a:solidFill>
              <a:srgbClr val="FFFF9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/>
          <p:cNvCxnSpPr/>
          <p:nvPr/>
        </p:nvCxnSpPr>
        <p:spPr>
          <a:xfrm>
            <a:off x="1293923" y="2942753"/>
            <a:ext cx="685800" cy="289829"/>
          </a:xfrm>
          <a:prstGeom prst="straightConnector1">
            <a:avLst/>
          </a:prstGeom>
          <a:ln w="57150">
            <a:solidFill>
              <a:srgbClr val="FFFF9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/>
          <p:nvPr/>
        </p:nvCxnSpPr>
        <p:spPr>
          <a:xfrm flipH="1">
            <a:off x="1270274" y="3291702"/>
            <a:ext cx="685800" cy="205740"/>
          </a:xfrm>
          <a:prstGeom prst="straightConnector1">
            <a:avLst/>
          </a:prstGeom>
          <a:ln w="57150">
            <a:solidFill>
              <a:srgbClr val="FFFF9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/>
          <p:cNvCxnSpPr/>
          <p:nvPr/>
        </p:nvCxnSpPr>
        <p:spPr>
          <a:xfrm>
            <a:off x="1368495" y="3560615"/>
            <a:ext cx="342900" cy="0"/>
          </a:xfrm>
          <a:prstGeom prst="straightConnector1">
            <a:avLst/>
          </a:prstGeom>
          <a:ln w="57150">
            <a:solidFill>
              <a:srgbClr val="FFFF9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/>
          <p:cNvCxnSpPr/>
          <p:nvPr/>
        </p:nvCxnSpPr>
        <p:spPr>
          <a:xfrm>
            <a:off x="1739235" y="3607912"/>
            <a:ext cx="0" cy="822960"/>
          </a:xfrm>
          <a:prstGeom prst="straightConnector1">
            <a:avLst/>
          </a:prstGeom>
          <a:ln w="57150">
            <a:solidFill>
              <a:srgbClr val="FFFF9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/>
          <p:cNvCxnSpPr/>
          <p:nvPr/>
        </p:nvCxnSpPr>
        <p:spPr>
          <a:xfrm flipV="1">
            <a:off x="1881126" y="4544552"/>
            <a:ext cx="822960" cy="4890"/>
          </a:xfrm>
          <a:prstGeom prst="straightConnector1">
            <a:avLst/>
          </a:prstGeom>
          <a:ln w="57150">
            <a:solidFill>
              <a:srgbClr val="FFFF9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/>
          <p:cNvCxnSpPr/>
          <p:nvPr/>
        </p:nvCxnSpPr>
        <p:spPr>
          <a:xfrm flipV="1">
            <a:off x="2727735" y="4099366"/>
            <a:ext cx="0" cy="445186"/>
          </a:xfrm>
          <a:prstGeom prst="straightConnector1">
            <a:avLst/>
          </a:prstGeom>
          <a:ln w="57150">
            <a:solidFill>
              <a:srgbClr val="FFFF9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/>
          <p:cNvCxnSpPr/>
          <p:nvPr/>
        </p:nvCxnSpPr>
        <p:spPr>
          <a:xfrm>
            <a:off x="2748704" y="4063894"/>
            <a:ext cx="392255" cy="592563"/>
          </a:xfrm>
          <a:prstGeom prst="straightConnector1">
            <a:avLst/>
          </a:prstGeom>
          <a:ln w="57150">
            <a:solidFill>
              <a:srgbClr val="FFFF9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/>
          <p:cNvCxnSpPr/>
          <p:nvPr/>
        </p:nvCxnSpPr>
        <p:spPr>
          <a:xfrm flipV="1">
            <a:off x="3192039" y="4066574"/>
            <a:ext cx="342900" cy="572289"/>
          </a:xfrm>
          <a:prstGeom prst="straightConnector1">
            <a:avLst/>
          </a:prstGeom>
          <a:ln w="57150">
            <a:solidFill>
              <a:srgbClr val="FFFF9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/>
          <p:cNvCxnSpPr/>
          <p:nvPr/>
        </p:nvCxnSpPr>
        <p:spPr>
          <a:xfrm>
            <a:off x="3569058" y="4151952"/>
            <a:ext cx="0" cy="397490"/>
          </a:xfrm>
          <a:prstGeom prst="straightConnector1">
            <a:avLst/>
          </a:prstGeom>
          <a:ln w="57150">
            <a:solidFill>
              <a:srgbClr val="FFFF9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/>
          <p:cNvCxnSpPr/>
          <p:nvPr/>
        </p:nvCxnSpPr>
        <p:spPr>
          <a:xfrm flipV="1">
            <a:off x="3604532" y="4544552"/>
            <a:ext cx="548640" cy="4890"/>
          </a:xfrm>
          <a:prstGeom prst="straightConnector1">
            <a:avLst/>
          </a:prstGeom>
          <a:ln w="57150">
            <a:solidFill>
              <a:srgbClr val="FFFF9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1" name="Picture 50"/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53964" y="4151954"/>
            <a:ext cx="1257409" cy="891617"/>
          </a:xfrm>
          <a:prstGeom prst="rect">
            <a:avLst/>
          </a:prstGeom>
        </p:spPr>
      </p:pic>
      <p:pic>
        <p:nvPicPr>
          <p:cNvPr id="52" name="Picture 51"/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53173" y="2605827"/>
            <a:ext cx="1257409" cy="891617"/>
          </a:xfrm>
          <a:prstGeom prst="rect">
            <a:avLst/>
          </a:prstGeom>
        </p:spPr>
      </p:pic>
      <p:pic>
        <p:nvPicPr>
          <p:cNvPr id="21" name="Content Placeholder 6">
            <a:extLst>
              <a:ext uri="{FF2B5EF4-FFF2-40B4-BE49-F238E27FC236}">
                <a16:creationId xmlns:a16="http://schemas.microsoft.com/office/drawing/2014/main" id="{67E62310-EF3D-462B-A114-2050F020DDC7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4378" y="2511074"/>
            <a:ext cx="3522948" cy="2642211"/>
          </a:xfrm>
          <a:prstGeom prst="rect">
            <a:avLst/>
          </a:prstGeom>
          <a:noFill/>
          <a:ln w="38100">
            <a:solidFill>
              <a:schemeClr val="bg1">
                <a:lumMod val="75000"/>
              </a:schemeClr>
            </a:solidFill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63EDCA6-522D-4BEA-803A-DC2D660216BB}"/>
              </a:ext>
            </a:extLst>
          </p:cNvPr>
          <p:cNvSpPr txBox="1"/>
          <p:nvPr/>
        </p:nvSpPr>
        <p:spPr>
          <a:xfrm>
            <a:off x="838200" y="1741313"/>
            <a:ext cx="409843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Fluorescence spectroscopy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4761B55-F945-4D9A-AAD0-0132F279FE4E}"/>
              </a:ext>
            </a:extLst>
          </p:cNvPr>
          <p:cNvSpPr txBox="1"/>
          <p:nvPr/>
        </p:nvSpPr>
        <p:spPr>
          <a:xfrm>
            <a:off x="6460726" y="3525038"/>
            <a:ext cx="4138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=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104DB16-11AD-4A5C-AD0A-C48E7693597D}"/>
              </a:ext>
            </a:extLst>
          </p:cNvPr>
          <p:cNvSpPr txBox="1"/>
          <p:nvPr/>
        </p:nvSpPr>
        <p:spPr>
          <a:xfrm>
            <a:off x="6881737" y="1741313"/>
            <a:ext cx="500823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Excitation emission matrix (EEM)</a:t>
            </a:r>
          </a:p>
        </p:txBody>
      </p:sp>
    </p:spTree>
    <p:extLst>
      <p:ext uri="{BB962C8B-B14F-4D97-AF65-F5344CB8AC3E}">
        <p14:creationId xmlns:p14="http://schemas.microsoft.com/office/powerpoint/2010/main" val="32955919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700"/>
                            </p:stCondLst>
                            <p:childTnLst>
                              <p:par>
                                <p:cTn id="16" presetID="10" presetClass="entr" presetSubtype="0" fill="hold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400"/>
                            </p:stCondLst>
                            <p:childTnLst>
                              <p:par>
                                <p:cTn id="20" presetID="10" presetClass="entr" presetSubtype="0" fill="hold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100"/>
                            </p:stCondLst>
                            <p:childTnLst>
                              <p:par>
                                <p:cTn id="24" presetID="10" presetClass="entr" presetSubtype="0" fill="hold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800"/>
                            </p:stCondLst>
                            <p:childTnLst>
                              <p:par>
                                <p:cTn id="28" presetID="10" presetClass="entr" presetSubtype="0" fill="hold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10" presetClass="entr" presetSubtype="0" fill="hold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200"/>
                            </p:stCondLst>
                            <p:childTnLst>
                              <p:par>
                                <p:cTn id="41" presetID="10" presetClass="entr" presetSubtype="0" fill="hold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900"/>
                            </p:stCondLst>
                            <p:childTnLst>
                              <p:par>
                                <p:cTn id="45" presetID="10" presetClass="entr" presetSubtype="0" fill="hold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2600"/>
                            </p:stCondLst>
                            <p:childTnLst>
                              <p:par>
                                <p:cTn id="49" presetID="10" presetClass="entr" presetSubtype="0" fill="hold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3300"/>
                            </p:stCondLst>
                            <p:childTnLst>
                              <p:par>
                                <p:cTn id="53" presetID="10" presetClass="entr" presetSubtype="0" fill="hold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4000"/>
                            </p:stCondLst>
                            <p:childTnLst>
                              <p:par>
                                <p:cTn id="57" presetID="10" presetClass="entr" presetSubtype="0" fill="hold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254C8E-CC23-42E9-8EC9-A649670BAE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Fluorescence indicators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9CFFEA-DE63-4CC4-993F-E7E513930AB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Previously identified ‘peaks’ which correspond to types of OM</a:t>
            </a:r>
          </a:p>
          <a:p>
            <a:pPr lvl="1"/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Peak A</a:t>
            </a:r>
          </a:p>
          <a:p>
            <a:pPr lvl="1"/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Peak C</a:t>
            </a:r>
          </a:p>
          <a:p>
            <a:pPr lvl="1"/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Peak T</a:t>
            </a:r>
          </a:p>
          <a:p>
            <a:pPr lvl="1"/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Peak M</a:t>
            </a:r>
          </a:p>
          <a:p>
            <a:r>
              <a:rPr lang="en-US" dirty="0"/>
              <a:t>Also ratio of peak areas:</a:t>
            </a:r>
          </a:p>
          <a:p>
            <a:pPr lvl="1"/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HIX (Humification index)</a:t>
            </a:r>
          </a:p>
          <a:p>
            <a:pPr lvl="1"/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BIX (Biological index)</a:t>
            </a:r>
          </a:p>
        </p:txBody>
      </p:sp>
      <p:pic>
        <p:nvPicPr>
          <p:cNvPr id="9" name="Content Placeholder 6">
            <a:extLst>
              <a:ext uri="{FF2B5EF4-FFF2-40B4-BE49-F238E27FC236}">
                <a16:creationId xmlns:a16="http://schemas.microsoft.com/office/drawing/2014/main" id="{BA96EBC2-B4BE-4859-BF50-F8A73EFCC07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4228" y="1825626"/>
            <a:ext cx="4286865" cy="3215149"/>
          </a:xfrm>
          <a:prstGeom prst="rect">
            <a:avLst/>
          </a:prstGeom>
          <a:noFill/>
          <a:ln w="38100">
            <a:solidFill>
              <a:schemeClr val="bg1">
                <a:lumMod val="75000"/>
              </a:schemeClr>
            </a:solidFill>
          </a:ln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1CBC8E39-7285-4924-99EA-E8A203746357}"/>
              </a:ext>
            </a:extLst>
          </p:cNvPr>
          <p:cNvGrpSpPr/>
          <p:nvPr/>
        </p:nvGrpSpPr>
        <p:grpSpPr>
          <a:xfrm>
            <a:off x="6819019" y="3154696"/>
            <a:ext cx="1711843" cy="1275903"/>
            <a:chOff x="5156791" y="3572540"/>
            <a:chExt cx="1711843" cy="1275903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077A06DA-F561-4D8E-B2F5-B478991B87EA}"/>
                </a:ext>
              </a:extLst>
            </p:cNvPr>
            <p:cNvSpPr/>
            <p:nvPr/>
          </p:nvSpPr>
          <p:spPr>
            <a:xfrm>
              <a:off x="5156791" y="3572540"/>
              <a:ext cx="223283" cy="637953"/>
            </a:xfrm>
            <a:prstGeom prst="rect">
              <a:avLst/>
            </a:prstGeom>
            <a:solidFill>
              <a:schemeClr val="bg1">
                <a:alpha val="58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</a:rPr>
                <a:t>A</a:t>
              </a: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6CB71CEC-A103-45F6-B5C9-F2F01C0C3457}"/>
                </a:ext>
              </a:extLst>
            </p:cNvPr>
            <p:cNvSpPr/>
            <p:nvPr/>
          </p:nvSpPr>
          <p:spPr>
            <a:xfrm>
              <a:off x="6156257" y="3572540"/>
              <a:ext cx="712377" cy="382772"/>
            </a:xfrm>
            <a:prstGeom prst="rect">
              <a:avLst/>
            </a:prstGeom>
            <a:solidFill>
              <a:schemeClr val="bg1">
                <a:alpha val="58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</a:rPr>
                <a:t>C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86FEFB04-9C61-4D48-8E2F-434FC7164FF7}"/>
                </a:ext>
              </a:extLst>
            </p:cNvPr>
            <p:cNvSpPr/>
            <p:nvPr/>
          </p:nvSpPr>
          <p:spPr>
            <a:xfrm>
              <a:off x="5730951" y="4072267"/>
              <a:ext cx="372140" cy="320040"/>
            </a:xfrm>
            <a:prstGeom prst="rect">
              <a:avLst/>
            </a:prstGeom>
            <a:solidFill>
              <a:schemeClr val="bg1">
                <a:alpha val="58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</a:rPr>
                <a:t>M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9BBDF2F0-0FC4-43BB-AC81-3988DBD57FB6}"/>
                </a:ext>
              </a:extLst>
            </p:cNvPr>
            <p:cNvSpPr/>
            <p:nvPr/>
          </p:nvSpPr>
          <p:spPr>
            <a:xfrm>
              <a:off x="5380074" y="4614526"/>
              <a:ext cx="223283" cy="233917"/>
            </a:xfrm>
            <a:prstGeom prst="rect">
              <a:avLst/>
            </a:prstGeom>
            <a:solidFill>
              <a:schemeClr val="bg1">
                <a:alpha val="58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</a:rPr>
                <a:t>T</a:t>
              </a:r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D9E3E31B-00FB-4F7A-A76A-7A6F84856CCA}"/>
              </a:ext>
            </a:extLst>
          </p:cNvPr>
          <p:cNvSpPr txBox="1"/>
          <p:nvPr/>
        </p:nvSpPr>
        <p:spPr>
          <a:xfrm>
            <a:off x="6627697" y="5249339"/>
            <a:ext cx="3499925" cy="83099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8100">
            <a:solidFill>
              <a:schemeClr val="bg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b="1" dirty="0" err="1">
                <a:solidFill>
                  <a:schemeClr val="accent2">
                    <a:lumMod val="75000"/>
                  </a:schemeClr>
                </a:solidFill>
              </a:rPr>
              <a:t>Humic</a:t>
            </a: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, terrestrial-like</a:t>
            </a:r>
          </a:p>
          <a:p>
            <a:r>
              <a:rPr lang="en-US" sz="2400" b="1" dirty="0">
                <a:solidFill>
                  <a:schemeClr val="accent6">
                    <a:lumMod val="75000"/>
                  </a:schemeClr>
                </a:solidFill>
              </a:rPr>
              <a:t>Microbial, autochthonous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342C33A5-4D67-4BB6-827B-A94C6EA31425}"/>
              </a:ext>
            </a:extLst>
          </p:cNvPr>
          <p:cNvGrpSpPr/>
          <p:nvPr/>
        </p:nvGrpSpPr>
        <p:grpSpPr>
          <a:xfrm>
            <a:off x="6811927" y="3115876"/>
            <a:ext cx="1034901" cy="1436997"/>
            <a:chOff x="5160335" y="3519912"/>
            <a:chExt cx="1034901" cy="1436997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4447E451-D6D1-4375-9AB4-814F516AAF5A}"/>
                </a:ext>
              </a:extLst>
            </p:cNvPr>
            <p:cNvSpPr/>
            <p:nvPr/>
          </p:nvSpPr>
          <p:spPr>
            <a:xfrm>
              <a:off x="5160335" y="4636869"/>
              <a:ext cx="223283" cy="320040"/>
            </a:xfrm>
            <a:prstGeom prst="rect">
              <a:avLst/>
            </a:prstGeom>
            <a:solidFill>
              <a:schemeClr val="bg1">
                <a:alpha val="58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350E7D7F-2DEB-4962-A525-88F7A31877A0}"/>
                </a:ext>
              </a:extLst>
            </p:cNvPr>
            <p:cNvSpPr/>
            <p:nvPr/>
          </p:nvSpPr>
          <p:spPr>
            <a:xfrm>
              <a:off x="5160335" y="3519912"/>
              <a:ext cx="223283" cy="457200"/>
            </a:xfrm>
            <a:prstGeom prst="rect">
              <a:avLst/>
            </a:prstGeom>
            <a:solidFill>
              <a:schemeClr val="bg1">
                <a:alpha val="58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3738752F-A910-41F0-B899-1F1A1DEA546D}"/>
                </a:ext>
              </a:extLst>
            </p:cNvPr>
            <p:cNvSpPr/>
            <p:nvPr/>
          </p:nvSpPr>
          <p:spPr>
            <a:xfrm>
              <a:off x="5971953" y="4232826"/>
              <a:ext cx="223283" cy="182880"/>
            </a:xfrm>
            <a:prstGeom prst="rect">
              <a:avLst/>
            </a:prstGeom>
            <a:solidFill>
              <a:schemeClr val="bg1">
                <a:alpha val="58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9660DDAD-5423-4287-9FCB-7710DDA756B1}"/>
                </a:ext>
              </a:extLst>
            </p:cNvPr>
            <p:cNvSpPr/>
            <p:nvPr/>
          </p:nvSpPr>
          <p:spPr>
            <a:xfrm>
              <a:off x="5971953" y="3818177"/>
              <a:ext cx="223283" cy="182880"/>
            </a:xfrm>
            <a:prstGeom prst="rect">
              <a:avLst/>
            </a:prstGeom>
            <a:solidFill>
              <a:schemeClr val="bg1">
                <a:alpha val="58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564960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A9F2CB08-0A99-4120-93C5-AD4C71EA130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1639" y="1524000"/>
            <a:ext cx="6096000" cy="38100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1C73A9E0-6FD9-481F-B4B9-1FDBCDA15660}"/>
              </a:ext>
            </a:extLst>
          </p:cNvPr>
          <p:cNvSpPr txBox="1"/>
          <p:nvPr/>
        </p:nvSpPr>
        <p:spPr>
          <a:xfrm>
            <a:off x="6557639" y="1524000"/>
            <a:ext cx="5172722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Summer 2019 was a unique year in FCR (we think!)!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Variable oxygenation throughout the summer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Via oxygenation system on/off cycles (3 total) then left on through turn-over</a:t>
            </a:r>
          </a:p>
        </p:txBody>
      </p:sp>
    </p:spTree>
    <p:extLst>
      <p:ext uri="{BB962C8B-B14F-4D97-AF65-F5344CB8AC3E}">
        <p14:creationId xmlns:p14="http://schemas.microsoft.com/office/powerpoint/2010/main" val="35593650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CF72EA-630D-4C12-972E-AC28CAA902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does this have to do with Carbon cycling?!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420621-830B-4307-8648-2948A868FF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Understand how C cycling (DOM quality via EEMs, DOC concentration, GHG concentration) might change due to variable oxygen concentrations</a:t>
            </a:r>
          </a:p>
          <a:p>
            <a:r>
              <a:rPr lang="en-US" dirty="0"/>
              <a:t>Focusing on Site 50 (greatest impact of oxygenation)</a:t>
            </a:r>
          </a:p>
          <a:p>
            <a:r>
              <a:rPr lang="en-US" dirty="0"/>
              <a:t>Hoping to link DOC concentration + DOM quality with GHG concentration</a:t>
            </a:r>
          </a:p>
          <a:p>
            <a:pPr lvl="1"/>
            <a:r>
              <a:rPr lang="en-US" dirty="0"/>
              <a:t>Pie in the sky…</a:t>
            </a:r>
          </a:p>
          <a:p>
            <a:r>
              <a:rPr lang="en-US" dirty="0"/>
              <a:t>But also, figure out what is ‘driving’ patterns of DOM and GHG (separately and together)</a:t>
            </a:r>
          </a:p>
        </p:txBody>
      </p:sp>
    </p:spTree>
    <p:extLst>
      <p:ext uri="{BB962C8B-B14F-4D97-AF65-F5344CB8AC3E}">
        <p14:creationId xmlns:p14="http://schemas.microsoft.com/office/powerpoint/2010/main" val="10559649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F83644A-6A6E-417D-8C23-7F16ECC4DE5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1469"/>
            <a:ext cx="7763958" cy="653506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A49253B-5FB4-46A6-AD69-420DF9B2E250}"/>
              </a:ext>
            </a:extLst>
          </p:cNvPr>
          <p:cNvSpPr txBox="1"/>
          <p:nvPr/>
        </p:nvSpPr>
        <p:spPr>
          <a:xfrm>
            <a:off x="7763958" y="797510"/>
            <a:ext cx="3966403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Let’s start with DOC concentration!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Surface DOC &gt; Meta and Hypo DOC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Why?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Primary Production?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Not from inflows…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Stream and wetlands inflow are surprisingly similar!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And also similar in magnitude to Meta and Hypo DOC concentrations</a:t>
            </a:r>
          </a:p>
        </p:txBody>
      </p:sp>
    </p:spTree>
    <p:extLst>
      <p:ext uri="{BB962C8B-B14F-4D97-AF65-F5344CB8AC3E}">
        <p14:creationId xmlns:p14="http://schemas.microsoft.com/office/powerpoint/2010/main" val="41180471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9E0A73FB-A89D-413F-8817-B5766F39190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59620"/>
            <a:ext cx="7763958" cy="4610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79846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0E410D4-A974-4C64-AAAA-680517711C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4021" y="1123628"/>
            <a:ext cx="7763958" cy="4610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7621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6AA20DB-8BC2-4AFB-BEA9-92455B16FA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4021" y="161469"/>
            <a:ext cx="7763958" cy="6535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96603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B51910C-EC2A-4751-87CB-C25D7A3F96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4021" y="161469"/>
            <a:ext cx="7763958" cy="6535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21995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7B49C6B-844E-4F86-B8FD-B739F14794F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4021" y="1123628"/>
            <a:ext cx="7763958" cy="4610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93261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269</Words>
  <Application>Microsoft Office PowerPoint</Application>
  <PresentationFormat>Widescreen</PresentationFormat>
  <Paragraphs>40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Office Theme</vt:lpstr>
      <vt:lpstr>EEMs Data share!</vt:lpstr>
      <vt:lpstr>What is an EEM?!</vt:lpstr>
      <vt:lpstr>Fluorescence indicators</vt:lpstr>
      <vt:lpstr>PowerPoint Presentation</vt:lpstr>
      <vt:lpstr>What does this have to do with Carbon cycling?!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EEMs Data share!</dc:title>
  <dc:creator>Alex Hounshell</dc:creator>
  <cp:lastModifiedBy>Alex Hounshell</cp:lastModifiedBy>
  <cp:revision>4</cp:revision>
  <dcterms:created xsi:type="dcterms:W3CDTF">2020-09-28T19:44:50Z</dcterms:created>
  <dcterms:modified xsi:type="dcterms:W3CDTF">2020-09-28T20:06:56Z</dcterms:modified>
</cp:coreProperties>
</file>